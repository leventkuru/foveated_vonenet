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33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4A6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64208" y="77724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4A6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4208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05456" y="777240"/>
            <a:ext cx="566928" cy="5669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4A6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5456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46704" y="777240"/>
            <a:ext cx="566928" cy="5669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4A6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87952" y="777240"/>
            <a:ext cx="566928" cy="5669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4A6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BİYOLOJİK GÖRÜ MODELLERİ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EC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Ortamları ve Component–Question İlişkisi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 Foveation · V1 Front-End · Recurrent Ventral Stream · IT-Feedback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contribution:  </a:t>
            </a:r>
            <a:pPr indent="0" marL="0">
              <a:buNone/>
            </a:pPr>
            <a:r>
              <a:rPr lang="en-US" sz="14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Trace-Based Metameric Peripheral Noise (Watson-based SNR)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 Levent Kuru  ·  Boğaziçi Üniversitesi  ·  14 Temmuz 2026  ·  Tez danışmanı ara durum notu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ÖZETI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Beş component, iki hedef, tek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human visual pathway’i adım adım taklit eden bir vision model kurmak ve her component’ın robustness ve brain-alignment katkısını izole ederek ölçmek.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441448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441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23774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Foveation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37744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R-Blur foveal warp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FBF0E6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191256"/>
            <a:ext cx="438912" cy="438912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98448" y="31272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Peripheral representation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312724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Trace-based metameric noise (original)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941064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387705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front-end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3877056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VOneBlock: Gabor + Poisson noise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690872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690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46268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Ventral back-end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4626864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/ CORnet-S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30952"/>
            <a:ext cx="73152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5440680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440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98448" y="53766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IT-feedback loop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23360" y="537667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Multi-glance + halting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1371600"/>
            <a:ext cx="3520440" cy="4745736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19202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notebook + src/ modülleri + override katmanı + data/metric pipeline kuruldu.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smoke-test modunda doğrulandı.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aşamadaki sayılar scientific result değil — pipeline’ın çalıştığının kanıtı.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21040" y="45720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adım: aynı pipeline’ı pretrained weights + CIFAR-10 → ImageNet ile çalıştırıp gerçek metrikleri toplamak.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ve thesis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vision network’leri yüksek accuracy verir, ama insan görüşünün iki özelliğinden yoksundur: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perturbation’lara robustness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representation’lara benzerlik (brain-alignment)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Tez, human visual pathway’in yapı taşlarını (foveation, peripheral summarization, V1 Gabor + noise, recurrence, IT-feedback) tek mimaride birleştirir.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1731"/>
            </a:avLst>
          </a:prstGeom>
          <a:solidFill>
            <a:srgbClr val="FBF0E6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claim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Component’lar synergistic katkı sağlar.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tek başına partial bir kazanç verir; birlikte kullanıldıklarında robustness ve brain-alignment, parçaların toplamından fazlasına ulaşır.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44348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C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457200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test: leave-one-out ablation — her component’ı tek tek çıkarıp marginal contribution’ı ölçmek.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Beş component ve biological karşılıkları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Foveation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703320" y="146304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Fovea–periphery resolution gradient; retinal sampling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0" y="14630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+ small-object accuracy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FBF0E6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40487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Peripheral representation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03320" y="2404872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metamers: local summary statistics (Watson 2014 mRGC)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0" y="2404872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Brain-alignment + robustness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021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346704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front-end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03320" y="3346704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visual cortex: simple/complex cells, neural stochasticity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0" y="334670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(EOT)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4439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288536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Ventral back-end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703320" y="4288536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Ventral stream V2–V4–IT; residual ≈ unrolled recurrence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0" y="428853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Brain-Score V4/IT + scale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84648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38581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85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523036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IT-feedback loop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703320" y="5230368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IT→early-area feedback; saccadic fixation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86800" y="5230368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compute + hard examples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236208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= tüm component’lar aktif. Her biri tek bir override flag ile toggle edilebilir; aynı kod hem full model’i hem her ablation variant’ını üretir.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OMURGA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Kurulan ilişki: her ablation bir soruyu izole eder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/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07792" y="13716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3716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96712" y="13716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/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3716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axis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85632" y="13716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15400" y="13716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3716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question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109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383280"/>
                <a:gridCol w="2377440"/>
                <a:gridCol w="4434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55A1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flat blur ↔ A3 i.i.d. ↔ A4 trace-based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average SNR budget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SNR’de noise’un structure’ı fark yaratır mı?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 none ↔ B8 Gabor ↔ B9 Poisson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Backbone,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Gabor bank mı, stochastic noise mı robustness getirir?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B12 ResNet-50 ↔ B13 CORnet-S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Front-end,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recurrence ek contribution sağlar mı?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single ↔ D2/D3/D4 multi-glance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Fixation repetition accuracy/efficiency’yi nasıl değiştirir?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598932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ilke: bir axis değişirken diğer her şey sabit — ölçülen fark yalnızca o component’a atfedilebilir. Deneyler keyfi variant değil, thesis claim’i sınayan bir causal chain’dir.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Trace-based metameric peripheral noise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Fikir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983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periphery’si signal’i silmez — local summary statistics’i (texture) korur. Aynı statistic’e sahip iki görüntü peripheral’de ayırt edilemez (metamer).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Periphery’yi flat blur / i.i.d. noise yerine, signal’in local statistics’ine conditioned bir noise ile değiştiriyoruz.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Degradation’ı keyfi "blur-σ" ile değil, SNR ile kontrol edip SNR profilini human anatomy’ye bağlıyoruz.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572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Formalism (Watson-based SNR)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scale — mRGC spacing (Watson 2014):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37744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60·s(r) ≈ 0.53 + 0.434·r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roll-off law (area-based, β knob):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352044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BF0E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520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SNR(r) = SNR₀ · ( 0.53 / (0.53 + 0.434·r) )^β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r→0: window ≈ 1 pixel, signal preserved.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β: peripheral fidelity roll-off’un steepness’i — bir ablation knob.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C2 tek bir measurable curve’e (realized SNR(r)) indirgenir.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Infrastructure: üç binding principle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1945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environment Google Colab (A100/L4). Checkpoint’lar Drive’a; her notebook’ta resume-from-checkpoint zorunlu.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536" y="14173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71416" y="16002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471416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65776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Notebook-first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9704" y="21945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deneyler .ipynb. src/ yalnızca shared utility; experiment logic ve override’lar cell içinde transparent.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28432" y="14173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6002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05672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Override, not fork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1945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VOneNet / CORnet / FOVEA external/ altına klonlanır, asla düzenlenmez. Değişiklik tek satırlık reversible flag.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1109960" cy="1234440"/>
          </a:xfrm>
          <a:prstGeom prst="roundRect">
            <a:avLst>
              <a:gd name="adj" fmla="val 6667"/>
            </a:avLst>
          </a:prstGeom>
          <a:solidFill>
            <a:srgbClr val="FBF0E6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566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 strategy — üç pattern (src/overrides.py, tek satırla aktif):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95020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Subclass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gereken method override (ör. VOneBlock Poisson toggle).  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Monkey-patch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runtime patch (VOneBlock input-gradient bug fix, PGD/EOT için).  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Wrapper nn.Module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foveal transform / IT-feedback loop sarmalama.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109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983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(prototype) → ImageNet-1K, ImageNet-C / CIFAR-10-C (mCE), ImageNet-R/Sketch, Stylized-ImageNet, Brain-Score sets.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acc · mCE · adversarial (PGD/APGD, EOT-N N≥10 zorunlu) · Brain-Score · shape bias · metamer recognizability · MFTMA capacity/radius/dimension.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hattı: 00 → 07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59105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setup_and_data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repo cloning, data prep, normalization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7614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baseline_reproduce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25880" y="31363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B0–B3: ResNet-50, AlexNet, VOneResNet-50, CORnet-S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BF0E6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931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foveation_rblur_and_periphery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430682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A1–A6, E1–E3  ·  original contribution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26694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66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510235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v1_block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54772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B7–B9, B12–B13: V1 front-end &amp; recurrence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146304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175564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59105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it_feedback_multiglance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9440" y="19659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D1–D4: IT-feedback &amp; multi-glance loop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633472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27614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mftma_certification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49440" y="31363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× MFTMA + metamer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3803904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409651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49440" y="3931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full_model_and_ablations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949440" y="430682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+ leave-one-out summary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72200" y="4974336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5080" y="526694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266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49440" y="510235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cifar10_and_cifar10c_evaluation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949440" y="54772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acc + CIFAR-10-C mCE + SNR sweep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62636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notebook results/NN_*.json + NN_*.png yazar; sonraki okur. CFG['smoke_test']=True ile hızlı sanity check.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signature + leave-one-out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MFTMA — representational geometry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7091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ve Brain-Score’a ek olarak her ablation’ın manifold geometrisi ölçülür.</a:t>
            </a:r>
            <a:endParaRPr lang="en-US" sz="135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output / ventral middle / IT readout katmanlarından class manifold’ları çıkarılır.</a:t>
            </a:r>
            <a:endParaRPr lang="en-US" sz="1350" dirty="0"/>
          </a:p>
          <a:p>
            <a:pPr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capacity (αc), radius (Rm), dimension (Dm), center-correlation.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component’lar eklendikçe manifold’lar daha separable → higher capacity, lower radius/dimension.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97880" y="1417320"/>
            <a:ext cx="576072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15727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Leave-one-out — synergy testi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1031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−C1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1031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↓, small-object acc 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862072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BF0E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86207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−C2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86207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Brain-alignment ↓, metamer similarity 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62102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62102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−C3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78040" y="362102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↓ (EOT)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4379976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437997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−C4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78040" y="437997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Brain-Score ↑?, FLOP change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5138928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513892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−C5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513892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Adaptive-compute gain ↓, hard-example acc 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5943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koşul iki signature ile raporlanır: behavioral + geometric.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Smoke-test: pipeline doğrulandı, sonuç değil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777240"/>
          </a:xfrm>
          <a:prstGeom prst="roundRect">
            <a:avLst>
              <a:gd name="adj" fmla="val 8235"/>
            </a:avLst>
          </a:prstGeom>
          <a:solidFill>
            <a:srgbClr val="FBF0E6"/>
          </a:solidFill>
          <a:ln w="12700">
            <a:solidFill>
              <a:srgbClr val="E3C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 iş = scientific result değil, experiment pipeline’ın uçtan uca çalıştığının kanıtı. </a:t>
            </a:r>
            <a:pPr indent="0" marL="0">
              <a:lnSpc>
                <a:spcPct val="103000"/>
              </a:lnSpc>
              <a:buNone/>
            </a:pPr>
            <a:r>
              <a:rPr lang="en-US" sz="135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 randomly-initialized model + synthetic data üzerinden; gerçek performance değildir.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109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  <a:gridCol w="1828800"/>
                <a:gridCol w="3246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(07 notebook)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acc*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acc*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 ResNet-50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B8 VOneBlock (noise off)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B9 VOneBlock (Poisson 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EOT pipeline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R-Blur + flat blur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trace-based periphery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contribution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23560"/>
            <a:ext cx="11109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chance level ~0.10. Anlamlı olan tek gözlem: pipeline expected output’ları üretiyor. B9’un EOT-robust accuracy alanının dolması, EOT measurement pipeline’ının doğru kurulduğunu gösterir. SNR sweep (β×SNR₀ = 9 grid) de uçtan uca koştu — A6’nın ana figürü hazır.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— phase takvimi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8191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92808"/>
            <a:ext cx="0" cy="466344"/>
          </a:xfrm>
          <a:prstGeom prst="line">
            <a:avLst/>
          </a:prstGeom>
          <a:noFill/>
          <a:ln w="19050">
            <a:solidFill>
              <a:srgbClr val="B9C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463040"/>
            <a:ext cx="103784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4630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B0–B3 real baselines (pretrained)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0" y="14630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Tem – 2 Ağu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359152"/>
            <a:ext cx="310896" cy="310896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670048"/>
            <a:ext cx="0" cy="466344"/>
          </a:xfrm>
          <a:prstGeom prst="line">
            <a:avLst/>
          </a:prstGeom>
          <a:noFill/>
          <a:ln w="19050">
            <a:solidFill>
              <a:srgbClr val="B9C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240280"/>
            <a:ext cx="10378440" cy="621792"/>
          </a:xfrm>
          <a:prstGeom prst="roundRect">
            <a:avLst>
              <a:gd name="adj" fmla="val 13235"/>
            </a:avLst>
          </a:prstGeom>
          <a:solidFill>
            <a:srgbClr val="FBF0E6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224028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200400" y="224028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A1–A6, E1–E3 · foveation &amp; periphery (original)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0" y="22402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16 Ağu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13639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447288"/>
            <a:ext cx="0" cy="466344"/>
          </a:xfrm>
          <a:prstGeom prst="line">
            <a:avLst/>
          </a:prstGeom>
          <a:noFill/>
          <a:ln w="19050">
            <a:solidFill>
              <a:srgbClr val="B9C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017520"/>
            <a:ext cx="103784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63040" y="301752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200400" y="301752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B7–B9, B12–B13 · V1 front-end &amp; recurrence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0" y="301752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– 30 Ağu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4224528"/>
            <a:ext cx="0" cy="466344"/>
          </a:xfrm>
          <a:prstGeom prst="line">
            <a:avLst/>
          </a:prstGeom>
          <a:noFill/>
          <a:ln w="19050">
            <a:solidFill>
              <a:srgbClr val="B9C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3794760"/>
            <a:ext cx="103784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37947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200400" y="379476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D1–D4 · IT-feedback &amp; multi-glance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0" y="37947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Ağu – 13 Eyl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469087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Shape 27"/>
          <p:cNvSpPr/>
          <p:nvPr/>
        </p:nvSpPr>
        <p:spPr>
          <a:xfrm>
            <a:off x="841248" y="5001768"/>
            <a:ext cx="0" cy="466344"/>
          </a:xfrm>
          <a:prstGeom prst="line">
            <a:avLst/>
          </a:prstGeom>
          <a:noFill/>
          <a:ln w="19050">
            <a:solidFill>
              <a:srgbClr val="B9C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4572000"/>
            <a:ext cx="103784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63040" y="457200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200400" y="457200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× MFTMA + metamer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0" y="45720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– 23 Eyl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546811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Shape 33"/>
          <p:cNvSpPr/>
          <p:nvPr/>
        </p:nvSpPr>
        <p:spPr>
          <a:xfrm>
            <a:off x="1280160" y="5349240"/>
            <a:ext cx="103784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6200" dist="25400" dir="5400000">
              <a:srgbClr val="A9B4C6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463040" y="53492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3200400" y="534924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+ leave-one-out summary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0" y="53492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– 28 Eyl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80160" y="617220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P1 (core) önce, P3 zaman kalırsa. Original component’lar (trace-based periphery, IT-feedback) prioritized.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TOPLANTI İÇİN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81328" y="1929384"/>
            <a:ext cx="9875520" cy="658368"/>
          </a:xfrm>
          <a:prstGeom prst="roundRect">
            <a:avLst>
              <a:gd name="adj" fmla="val 9722"/>
            </a:avLst>
          </a:prstGeom>
          <a:solidFill>
            <a:srgbClr val="1F3155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929384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"Equal SNR budget" constraint’i (A2/A3/A4) yeterince fair mı — SNR matching hangi layer’da (pixel / V1 output)?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07208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07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81328" y="2770632"/>
            <a:ext cx="9875520" cy="658368"/>
          </a:xfrm>
          <a:prstGeom prst="roundRect">
            <a:avLst>
              <a:gd name="adj" fmla="val 9722"/>
            </a:avLst>
          </a:prstGeom>
          <a:solidFill>
            <a:srgbClr val="1F3155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2770632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MFTMA için layer seçimi (V1 / ventral middle / IT) ve sample-per-class (~50) yeterli mi?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648456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48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81328" y="3611880"/>
            <a:ext cx="9875520" cy="658368"/>
          </a:xfrm>
          <a:prstGeom prst="roundRect">
            <a:avLst>
              <a:gd name="adj" fmla="val 9722"/>
            </a:avLst>
          </a:prstGeom>
          <a:solidFill>
            <a:srgbClr val="1F3155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3611880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C4’te CORnet-S’i main backbone yerine reference tutmak doğru mu — Brain-Score priority scalability’den önce mi?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489704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897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81328" y="4453128"/>
            <a:ext cx="9875520" cy="658368"/>
          </a:xfrm>
          <a:prstGeom prst="roundRect">
            <a:avLst>
              <a:gd name="adj" fmla="val 9722"/>
            </a:avLst>
          </a:prstGeom>
          <a:solidFill>
            <a:srgbClr val="1F3155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4453128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sürede ImageNet-1K full scale mı, ImageNet-100 subset ile daha çok ablation mı?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5330952"/>
            <a:ext cx="475488" cy="47548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30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81328" y="5294376"/>
            <a:ext cx="9875520" cy="658368"/>
          </a:xfrm>
          <a:prstGeom prst="roundRect">
            <a:avLst>
              <a:gd name="adj" fmla="val 9722"/>
            </a:avLst>
          </a:prstGeom>
          <a:solidFill>
            <a:srgbClr val="1F3155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5294376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(robustness without adversarial training) — bunu primary contribution olarak öne çıkaralım mı?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2026-07-14T11:37:29Z</dcterms:created>
  <dcterms:modified xsi:type="dcterms:W3CDTF">2026-07-14T11:37:29Z</dcterms:modified>
</cp:coreProperties>
</file>